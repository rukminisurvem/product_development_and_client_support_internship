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70" r:id="rId5"/>
    <p:sldId id="261" r:id="rId6"/>
    <p:sldId id="262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3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0A6B9D-C27D-4227-AC65-3C97878D78C4}" cxnId="{8CB593F6-6C5D-4606-B959-3E27F9872EC1}" type="parTrans">
      <dgm:prSet/>
      <dgm:spPr/>
      <dgm:t>
        <a:bodyPr/>
        <a:lstStyle/>
        <a:p>
          <a:endParaRPr lang="en-US"/>
        </a:p>
      </dgm:t>
    </dgm:pt>
    <dgm:pt modelId="{19B27CEC-4BAD-44A7-A9A7-B7A8B23ADCFD}" cxnId="{8CB593F6-6C5D-4606-B959-3E27F9872EC1}" type="sibTrans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cxnId="{AEE28BEF-3F73-41A5-9307-D42A450FCA17}" type="parTrans">
      <dgm:prSet/>
      <dgm:spPr/>
      <dgm:t>
        <a:bodyPr/>
        <a:lstStyle/>
        <a:p>
          <a:endParaRPr lang="en-US"/>
        </a:p>
      </dgm:t>
    </dgm:pt>
    <dgm:pt modelId="{304E70AD-39C7-4C28-BF7B-6EE91BAE97B7}" cxnId="{AEE28BEF-3F73-41A5-9307-D42A450FCA17}" type="sibTrans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cxnId="{6C7D4BBB-EED6-4011-9FBC-87F683D5B245}" type="parTrans">
      <dgm:prSet/>
      <dgm:spPr/>
      <dgm:t>
        <a:bodyPr/>
        <a:lstStyle/>
        <a:p>
          <a:endParaRPr lang="en-US"/>
        </a:p>
      </dgm:t>
    </dgm:pt>
    <dgm:pt modelId="{B81593E2-4CAC-4783-8D2D-E9DDD236A942}" cxnId="{6C7D4BBB-EED6-4011-9FBC-87F683D5B245}" type="sibTrans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cxnId="{27611794-B6EF-4593-A560-02BF7692DC5A}" type="parTrans">
      <dgm:prSet/>
      <dgm:spPr/>
      <dgm:t>
        <a:bodyPr/>
        <a:lstStyle/>
        <a:p>
          <a:endParaRPr lang="en-US"/>
        </a:p>
      </dgm:t>
    </dgm:pt>
    <dgm:pt modelId="{AD0D1882-5210-4A49-9875-4AAC43595580}" cxnId="{27611794-B6EF-4593-A560-02BF7692DC5A}" type="sibTrans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5C3CB-916F-4060-A8DA-DD282FB51587}" cxnId="{D1BA1DD0-A52A-47BF-962D-9810C87E1576}" type="parTrans">
      <dgm:prSet/>
      <dgm:spPr/>
      <dgm:t>
        <a:bodyPr/>
        <a:lstStyle/>
        <a:p>
          <a:endParaRPr lang="en-US"/>
        </a:p>
      </dgm:t>
    </dgm:pt>
    <dgm:pt modelId="{2868AD8D-4E38-46CE-A972-709857BF40AC}" cxnId="{D1BA1DD0-A52A-47BF-962D-9810C87E1576}" type="sibTrans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cxnId="{AA17007A-110D-43AE-B6F2-DF2DF885F2E2}" type="parTrans">
      <dgm:prSet/>
      <dgm:spPr/>
      <dgm:t>
        <a:bodyPr/>
        <a:lstStyle/>
        <a:p>
          <a:endParaRPr lang="en-US"/>
        </a:p>
      </dgm:t>
    </dgm:pt>
    <dgm:pt modelId="{98BDB650-3386-4D3D-8E80-609010499291}" cxnId="{AA17007A-110D-43AE-B6F2-DF2DF885F2E2}" type="sibTrans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cxnId="{DA8CD5E8-B2EE-41E4-8EC6-CFB41D688F68}" type="parTrans">
      <dgm:prSet/>
      <dgm:spPr/>
      <dgm:t>
        <a:bodyPr/>
        <a:lstStyle/>
        <a:p>
          <a:endParaRPr lang="en-US"/>
        </a:p>
      </dgm:t>
    </dgm:pt>
    <dgm:pt modelId="{5E9E6A6F-635A-4791-A107-01E95B62EA08}" cxnId="{DA8CD5E8-B2EE-41E4-8EC6-CFB41D688F68}" type="sibTrans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cxnId="{521FD508-C5FD-4804-AFDC-D1FF9945B211}" type="parTrans">
      <dgm:prSet/>
      <dgm:spPr/>
      <dgm:t>
        <a:bodyPr/>
        <a:lstStyle/>
        <a:p>
          <a:endParaRPr lang="en-US"/>
        </a:p>
      </dgm:t>
    </dgm:pt>
    <dgm:pt modelId="{196A2EB9-DD96-4630-B699-7AF000340374}" cxnId="{521FD508-C5FD-4804-AFDC-D1FF9945B211}" type="sibTrans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  <dgm:t>
        <a:bodyPr/>
        <a:lstStyle/>
        <a:p>
          <a:endParaRPr lang="en-US"/>
        </a:p>
      </dgm:t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FCF47-32CA-4C44-9E3C-782007B7112E}" type="pres">
      <dgm:prSet presAssocID="{A59EC69B-8F3F-425B-819F-E8C557946AEE}" presName="ChildAccent3" presStyleCnt="0"/>
      <dgm:spPr/>
      <dgm:t>
        <a:bodyPr/>
        <a:lstStyle/>
        <a:p>
          <a:endParaRPr lang="en-US"/>
        </a:p>
      </dgm:t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269CE6-C767-48CC-AAFD-A238D1FFDABA}" type="pres">
      <dgm:prSet presAssocID="{7B3055AA-BF7C-46D0-9A9E-60087B9F57B4}" presName="ChildAccent2" presStyleCnt="0"/>
      <dgm:spPr/>
      <dgm:t>
        <a:bodyPr/>
        <a:lstStyle/>
        <a:p>
          <a:endParaRPr lang="en-US"/>
        </a:p>
      </dgm:t>
    </dgm:pt>
    <dgm:pt modelId="{06F8D57B-EDF4-4CF4-8700-DC2CA3E3028E}" type="pres">
      <dgm:prSet presAssocID="{7B3055AA-BF7C-46D0-9A9E-60087B9F57B4}" presName="ChildAccent" presStyleLbl="alignImgPlace1" presStyleIdx="3" presStyleCnt="5"/>
      <dgm:spPr/>
      <dgm:t>
        <a:bodyPr/>
        <a:lstStyle/>
        <a:p>
          <a:endParaRPr lang="en-US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  <dgm:t>
        <a:bodyPr/>
        <a:lstStyle/>
        <a:p>
          <a:endParaRPr lang="en-US"/>
        </a:p>
      </dgm:t>
    </dgm:pt>
    <dgm:pt modelId="{A134CDD1-D85F-44EF-8BEE-9F99A855C1E6}" type="pres">
      <dgm:prSet presAssocID="{988D96B0-D16E-4763-B393-84178CF4FF50}" presName="ChildAccent" presStyleLbl="alignImgPlace1" presStyleIdx="4" presStyleCnt="5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388411" cy="4058195"/>
        <a:chOff x="0" y="0"/>
        <a:chExt cx="6388411" cy="4058195"/>
      </a:xfrm>
    </dsp:grpSpPr>
    <dsp:sp modelId="{8CAE5A4D-0C7B-48A6-917B-0B8433D0574B}">
      <dsp:nvSpPr>
        <dsp:cNvPr id="3" name="Rectangular Callout 2"/>
        <dsp:cNvSpPr/>
      </dsp:nvSpPr>
      <dsp:spPr bwMode="white">
        <a:xfrm>
          <a:off x="7173684" y="811639"/>
          <a:ext cx="1278321" cy="3246556"/>
        </a:xfrm>
        <a:prstGeom prst="wedgeRectCallout">
          <a:avLst>
            <a:gd name="adj1" fmla="val 0"/>
            <a:gd name="adj2" fmla="val 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7173684" y="811639"/>
        <a:ext cx="1278321" cy="3246556"/>
      </dsp:txXfrm>
    </dsp:sp>
    <dsp:sp modelId="{C73DE52A-2F45-45E6-AD0E-D5BEAF609F8E}">
      <dsp:nvSpPr>
        <dsp:cNvPr id="4" name="Rectangles 3"/>
        <dsp:cNvSpPr/>
      </dsp:nvSpPr>
      <dsp:spPr bwMode="white">
        <a:xfrm>
          <a:off x="7173684" y="0"/>
          <a:ext cx="1278321" cy="811639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3684" y="0"/>
        <a:ext cx="1278321" cy="811639"/>
      </dsp:txXfrm>
    </dsp:sp>
    <dsp:sp modelId="{FC0F1314-3294-4A8C-8DCE-EB53E236164C}">
      <dsp:nvSpPr>
        <dsp:cNvPr id="5" name="Rectangular Callout 4"/>
        <dsp:cNvSpPr/>
      </dsp:nvSpPr>
      <dsp:spPr bwMode="white">
        <a:xfrm>
          <a:off x="5898558" y="811639"/>
          <a:ext cx="1278321" cy="3043646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3195000"/>
            <a:satOff val="9216"/>
            <a:lumOff val="3137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5898558" y="811639"/>
        <a:ext cx="1278321" cy="3043646"/>
      </dsp:txXfrm>
    </dsp:sp>
    <dsp:sp modelId="{2AAD338D-3122-4454-9A67-16BE024D44E3}">
      <dsp:nvSpPr>
        <dsp:cNvPr id="6" name="Rectangles 5"/>
        <dsp:cNvSpPr/>
      </dsp:nvSpPr>
      <dsp:spPr bwMode="white">
        <a:xfrm>
          <a:off x="5898558" y="101455"/>
          <a:ext cx="1278321" cy="710184"/>
        </a:xfrm>
        <a:prstGeom prst="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8558" y="101455"/>
        <a:ext cx="1278321" cy="710184"/>
      </dsp:txXfrm>
    </dsp:sp>
    <dsp:sp modelId="{2532504F-5FE1-4C97-B485-F05E8885EACC}">
      <dsp:nvSpPr>
        <dsp:cNvPr id="7" name="Rectangular Callout 6"/>
        <dsp:cNvSpPr/>
      </dsp:nvSpPr>
      <dsp:spPr bwMode="white">
        <a:xfrm>
          <a:off x="4620237" y="811639"/>
          <a:ext cx="1278321" cy="2840736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6390000"/>
            <a:satOff val="18431"/>
            <a:lumOff val="6275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7" y="811639"/>
        <a:ext cx="1278321" cy="2840736"/>
      </dsp:txXfrm>
    </dsp:sp>
    <dsp:sp modelId="{4C66D42D-7E6D-4563-AFDC-369C30B73F70}">
      <dsp:nvSpPr>
        <dsp:cNvPr id="8" name="Rectangles 7"/>
        <dsp:cNvSpPr/>
      </dsp:nvSpPr>
      <dsp:spPr bwMode="white">
        <a:xfrm>
          <a:off x="4620237" y="206156"/>
          <a:ext cx="1278321" cy="608729"/>
        </a:xfrm>
        <a:prstGeom prst="rect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7" y="206156"/>
        <a:ext cx="1278321" cy="608729"/>
      </dsp:txXfrm>
    </dsp:sp>
    <dsp:sp modelId="{06F8D57B-EDF4-4CF4-8700-DC2CA3E3028E}">
      <dsp:nvSpPr>
        <dsp:cNvPr id="9" name="Rectangular Callout 8"/>
        <dsp:cNvSpPr/>
      </dsp:nvSpPr>
      <dsp:spPr bwMode="white">
        <a:xfrm>
          <a:off x="3341916" y="811639"/>
          <a:ext cx="1278321" cy="2637827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9585000"/>
            <a:satOff val="27647"/>
            <a:lumOff val="9412"/>
            <a:alpha val="100000"/>
          </a:schemeClr>
        </a:fillRef>
        <a:effectRef idx="0">
          <a:scrgbClr r="0" g="0" b="0"/>
        </a:effectRef>
        <a:fontRef idx="minor"/>
      </dsp:style>
      <dsp:txXfrm>
        <a:off x="3341916" y="811639"/>
        <a:ext cx="1278321" cy="2637827"/>
      </dsp:txXfrm>
    </dsp:sp>
    <dsp:sp modelId="{00BB3360-A9BB-4051-A4B1-1216F82F642C}">
      <dsp:nvSpPr>
        <dsp:cNvPr id="11" name="Rectangles 10"/>
        <dsp:cNvSpPr/>
      </dsp:nvSpPr>
      <dsp:spPr bwMode="white">
        <a:xfrm>
          <a:off x="3341916" y="304365"/>
          <a:ext cx="1278321" cy="507274"/>
        </a:xfrm>
        <a:prstGeom prst="rect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1916" y="304365"/>
        <a:ext cx="1278321" cy="507274"/>
      </dsp:txXfrm>
    </dsp:sp>
    <dsp:sp modelId="{A134CDD1-D85F-44EF-8BEE-9F99A855C1E6}">
      <dsp:nvSpPr>
        <dsp:cNvPr id="12" name="Rectangular Callout 11"/>
        <dsp:cNvSpPr/>
      </dsp:nvSpPr>
      <dsp:spPr bwMode="white">
        <a:xfrm>
          <a:off x="2063595" y="811639"/>
          <a:ext cx="1278321" cy="2434917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12780000"/>
            <a:satOff val="36863"/>
            <a:lumOff val="12549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3595" y="811639"/>
        <a:ext cx="1278321" cy="2434917"/>
      </dsp:txXfrm>
    </dsp:sp>
    <dsp:sp modelId="{65257024-FAC0-4522-B139-1CC85B547BE8}">
      <dsp:nvSpPr>
        <dsp:cNvPr id="13" name="Rectangles 12"/>
        <dsp:cNvSpPr/>
      </dsp:nvSpPr>
      <dsp:spPr bwMode="white">
        <a:xfrm>
          <a:off x="2063595" y="405820"/>
          <a:ext cx="1278321" cy="405820"/>
        </a:xfrm>
        <a:prstGeom prst="rect">
          <a:avLst/>
        </a:prstGeom>
      </dsp:spPr>
      <dsp:style>
        <a:lnRef idx="2">
          <a:schemeClr val="lt1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3595" y="405820"/>
        <a:ext cx="1278321" cy="405820"/>
      </dsp:txXfrm>
    </dsp:sp>
    <dsp:sp modelId="{6BCCFBA6-7A43-4631-AD7F-AFB10E1E6CD7}">
      <dsp:nvSpPr>
        <dsp:cNvPr id="10" name="Rectangles 9"/>
        <dsp:cNvSpPr/>
      </dsp:nvSpPr>
      <dsp:spPr bwMode="white">
        <a:xfrm>
          <a:off x="3504181" y="811639"/>
          <a:ext cx="1116055" cy="2637827"/>
        </a:xfrm>
        <a:prstGeom prst="rect">
          <a:avLst/>
        </a:prstGeom>
        <a:noFill/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3504181" y="811639"/>
        <a:ext cx="1116055" cy="26378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 des" ptType="node node"/>
        <dgm:presOf axis="des des" ptType="node 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</a:t>
            </a:r>
            <a:r>
              <a:rPr lang="en-IN" alt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Irfan Rajab Bhat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IN" altLang="en-US" sz="20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B.Tech  in Computer Engineering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alt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IN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Gopal Krishna Shyam</a:t>
            </a:r>
            <a:endParaRPr lang="en-US" sz="2000" b="1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IN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Gopal Krishna Shyam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. Md Ziaur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Rahman</a:t>
            </a:r>
            <a:endParaRPr lang="en-US" sz="2000" b="1" dirty="0" smtClean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Review-2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Development and Client Support using Java &amp; Spring Boot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Rukmini Surve M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20221COM0187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8COM03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endParaRPr lang="en-US" sz="2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Encrypt Infotech LLP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en-US" sz="343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Encrypt Infotech LLP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product-based IT company headquartered in Bengaluru, India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in 2017, focusing on enterprise software solutions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and maintains in-house products for multiple industry domains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custom software development and product support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for secure development practices and client-centric solutions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 Enterprise Product Development &amp; Client Support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maintenance of enterprise web applications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client change requests and issue resolution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of legacy systems to modern frameworks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performance optimization and low latency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applications used by real business clients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size: 7 members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Balakrishna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Manager: Naveen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follows collaborative development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assigned based on client requirements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discussions for issue resolution and feature updates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20000"/>
          </a:bodyPr>
          <a:lstStyle/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large existing codebases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Migrating applications from legacy server architecture to Spring Boot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real-time client issues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application stability during changes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Coordinating fixes under 24×7 support environment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enterprise-level software architecture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and enhance existing products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system performance and response time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 client issues efficiently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practical experience in real-world software development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Java-based web application architecture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Spring Boot fundamentals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Servlets and JSP workflow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client-server communication models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support of two main products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charset="0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AnyCrusher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charset="0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ERMC (Enterprise RMC Management System)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client requests and implementing changes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Migrating applications to Spring Boot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before deployment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client support and monitoring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0000" lnSpcReduction="20000"/>
          </a:bodyPr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applications had performance and latency issues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of business operations caused inefficiencies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centralized and scalable enterprise solutions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for continuous client support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faster issue resolution and feature delivery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5257800" cy="40582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Servlets &amp; JSP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&amp; CSS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Jenkins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832475" y="1189355"/>
            <a:ext cx="582549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Hardware Requirements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Company-provided secured laptop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Internet connectivity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system storage for applications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response time and performance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 using Spring Boot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enterprise management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24×7 client support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handling of business data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issue tracking and resolution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0070C0"/>
                </a:solidFill>
              </a:rPr>
              <a:t>Note: Write in the below table what u will be achieving in each review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871470" y="2127250"/>
            <a:ext cx="1369060" cy="2181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Understanding company products, tools, and code flow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4241165" y="2116455"/>
            <a:ext cx="124333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Working on live modules and resolving client issues</a:t>
            </a:r>
            <a:endParaRPr lang="en-US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5494655" y="2127885"/>
            <a:ext cx="1264285" cy="1496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Migrating legacy applications to Spring Boot</a:t>
            </a: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6769735" y="2116455"/>
            <a:ext cx="1264285" cy="1581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Performance optimization and bug fixing</a:t>
            </a:r>
            <a:endParaRPr lang="en-US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8065135" y="2148205"/>
            <a:ext cx="1222375" cy="1921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Final deployment support and documentation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GitHub repository maintained internally</a:t>
            </a:r>
            <a:endParaRPr lang="en-US" altLang="en-US" dirty="0"/>
          </a:p>
          <a:p>
            <a:r>
              <a:rPr lang="en-US" altLang="en-US" dirty="0"/>
              <a:t>Code access restricted for security reasons</a:t>
            </a:r>
            <a:endParaRPr lang="en-US" altLang="en-US" dirty="0"/>
          </a:p>
          <a:p>
            <a:r>
              <a:rPr lang="en-US" altLang="en-US" dirty="0"/>
              <a:t>Development performed on secured local systems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 smtClean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3974</Words>
  <Application>WPS Presentation</Application>
  <PresentationFormat>Widescreen</PresentationFormat>
  <Paragraphs>200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Microsoft YaHei</vt:lpstr>
      <vt:lpstr>Arial Unicode MS</vt:lpstr>
      <vt:lpstr>Calibri Light</vt:lpstr>
      <vt:lpstr>Calibri</vt:lpstr>
      <vt:lpstr>Wingdings</vt:lpstr>
      <vt:lpstr>Office Theme</vt:lpstr>
      <vt:lpstr>PowerPoint 演示文稿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Abhi abhay</cp:lastModifiedBy>
  <cp:revision>718</cp:revision>
  <dcterms:created xsi:type="dcterms:W3CDTF">2022-10-14T07:18:00Z</dcterms:created>
  <dcterms:modified xsi:type="dcterms:W3CDTF">2026-02-01T13:51:34Z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64C2849C59494790A8F9170DD2A07D89_12</vt:lpwstr>
  </property>
  <property fmtid="{D5CDD505-2E9C-101B-9397-08002B2CF9AE}" pid="3" name="KSOProductBuildVer">
    <vt:lpwstr>1033-12.2.0.23196</vt:lpwstr>
  </property>
</Properties>
</file>