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70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cxnId="{8CB593F6-6C5D-4606-B959-3E27F9872EC1}" type="parTrans">
      <dgm:prSet/>
      <dgm:spPr/>
      <dgm:t>
        <a:bodyPr/>
        <a:lstStyle/>
        <a:p>
          <a:endParaRPr lang="en-US"/>
        </a:p>
      </dgm:t>
    </dgm:pt>
    <dgm:pt modelId="{19B27CEC-4BAD-44A7-A9A7-B7A8B23ADCFD}" cxnId="{8CB593F6-6C5D-4606-B959-3E27F9872EC1}" type="sibTrans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cxnId="{AEE28BEF-3F73-41A5-9307-D42A450FCA17}" type="parTrans">
      <dgm:prSet/>
      <dgm:spPr/>
      <dgm:t>
        <a:bodyPr/>
        <a:lstStyle/>
        <a:p>
          <a:endParaRPr lang="en-US"/>
        </a:p>
      </dgm:t>
    </dgm:pt>
    <dgm:pt modelId="{304E70AD-39C7-4C28-BF7B-6EE91BAE97B7}" cxnId="{AEE28BEF-3F73-41A5-9307-D42A450FCA17}" type="sibTrans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cxnId="{6C7D4BBB-EED6-4011-9FBC-87F683D5B245}" type="parTrans">
      <dgm:prSet/>
      <dgm:spPr/>
      <dgm:t>
        <a:bodyPr/>
        <a:lstStyle/>
        <a:p>
          <a:endParaRPr lang="en-US"/>
        </a:p>
      </dgm:t>
    </dgm:pt>
    <dgm:pt modelId="{B81593E2-4CAC-4783-8D2D-E9DDD236A942}" cxnId="{6C7D4BBB-EED6-4011-9FBC-87F683D5B245}" type="sibTrans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cxnId="{27611794-B6EF-4593-A560-02BF7692DC5A}" type="parTrans">
      <dgm:prSet/>
      <dgm:spPr/>
      <dgm:t>
        <a:bodyPr/>
        <a:lstStyle/>
        <a:p>
          <a:endParaRPr lang="en-US"/>
        </a:p>
      </dgm:t>
    </dgm:pt>
    <dgm:pt modelId="{AD0D1882-5210-4A49-9875-4AAC43595580}" cxnId="{27611794-B6EF-4593-A560-02BF7692DC5A}" type="sibTrans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cxnId="{D1BA1DD0-A52A-47BF-962D-9810C87E1576}" type="parTrans">
      <dgm:prSet/>
      <dgm:spPr/>
      <dgm:t>
        <a:bodyPr/>
        <a:lstStyle/>
        <a:p>
          <a:endParaRPr lang="en-US"/>
        </a:p>
      </dgm:t>
    </dgm:pt>
    <dgm:pt modelId="{2868AD8D-4E38-46CE-A972-709857BF40AC}" cxnId="{D1BA1DD0-A52A-47BF-962D-9810C87E1576}" type="sibTrans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cxnId="{AA17007A-110D-43AE-B6F2-DF2DF885F2E2}" type="parTrans">
      <dgm:prSet/>
      <dgm:spPr/>
      <dgm:t>
        <a:bodyPr/>
        <a:lstStyle/>
        <a:p>
          <a:endParaRPr lang="en-US"/>
        </a:p>
      </dgm:t>
    </dgm:pt>
    <dgm:pt modelId="{98BDB650-3386-4D3D-8E80-609010499291}" cxnId="{AA17007A-110D-43AE-B6F2-DF2DF885F2E2}" type="sibTrans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cxnId="{DA8CD5E8-B2EE-41E4-8EC6-CFB41D688F68}" type="parTrans">
      <dgm:prSet/>
      <dgm:spPr/>
      <dgm:t>
        <a:bodyPr/>
        <a:lstStyle/>
        <a:p>
          <a:endParaRPr lang="en-US"/>
        </a:p>
      </dgm:t>
    </dgm:pt>
    <dgm:pt modelId="{5E9E6A6F-635A-4791-A107-01E95B62EA08}" cxnId="{DA8CD5E8-B2EE-41E4-8EC6-CFB41D688F68}" type="sibTrans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cxnId="{521FD508-C5FD-4804-AFDC-D1FF9945B211}" type="parTrans">
      <dgm:prSet/>
      <dgm:spPr/>
      <dgm:t>
        <a:bodyPr/>
        <a:lstStyle/>
        <a:p>
          <a:endParaRPr lang="en-US"/>
        </a:p>
      </dgm:t>
    </dgm:pt>
    <dgm:pt modelId="{196A2EB9-DD96-4630-B699-7AF000340374}" cxnId="{521FD508-C5FD-4804-AFDC-D1FF9945B211}" type="sibTrans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88411" cy="4058195"/>
        <a:chOff x="0" y="0"/>
        <a:chExt cx="6388411" cy="4058195"/>
      </a:xfrm>
    </dsp:grpSpPr>
    <dsp:sp modelId="{8CAE5A4D-0C7B-48A6-917B-0B8433D0574B}">
      <dsp:nvSpPr>
        <dsp:cNvPr id="3" name="Rectangular Callout 2"/>
        <dsp:cNvSpPr/>
      </dsp:nvSpPr>
      <dsp:spPr bwMode="white">
        <a:xfrm>
          <a:off x="7173684" y="811639"/>
          <a:ext cx="1278321" cy="3246556"/>
        </a:xfrm>
        <a:prstGeom prst="wedgeRectCallout">
          <a:avLst>
            <a:gd name="adj1" fmla="val 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7173684" y="811639"/>
        <a:ext cx="1278321" cy="3246556"/>
      </dsp:txXfrm>
    </dsp:sp>
    <dsp:sp modelId="{C73DE52A-2F45-45E6-AD0E-D5BEAF609F8E}">
      <dsp:nvSpPr>
        <dsp:cNvPr id="4" name="Rectangles 3"/>
        <dsp:cNvSpPr/>
      </dsp:nvSpPr>
      <dsp:spPr bwMode="white">
        <a:xfrm>
          <a:off x="7173684" y="0"/>
          <a:ext cx="1278321" cy="811639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1" cy="811639"/>
      </dsp:txXfrm>
    </dsp:sp>
    <dsp:sp modelId="{FC0F1314-3294-4A8C-8DCE-EB53E236164C}">
      <dsp:nvSpPr>
        <dsp:cNvPr id="5" name="Rectangular Callout 4"/>
        <dsp:cNvSpPr/>
      </dsp:nvSpPr>
      <dsp:spPr bwMode="white">
        <a:xfrm>
          <a:off x="5898558" y="811639"/>
          <a:ext cx="1278321" cy="304364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3195000"/>
            <a:satOff val="9216"/>
            <a:lumOff val="3137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898558" y="811639"/>
        <a:ext cx="1278321" cy="3043646"/>
      </dsp:txXfrm>
    </dsp:sp>
    <dsp:sp modelId="{2AAD338D-3122-4454-9A67-16BE024D44E3}">
      <dsp:nvSpPr>
        <dsp:cNvPr id="6" name="Rectangles 5"/>
        <dsp:cNvSpPr/>
      </dsp:nvSpPr>
      <dsp:spPr bwMode="white">
        <a:xfrm>
          <a:off x="5898558" y="101455"/>
          <a:ext cx="1278321" cy="710184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8" y="101455"/>
        <a:ext cx="1278321" cy="710184"/>
      </dsp:txXfrm>
    </dsp:sp>
    <dsp:sp modelId="{2532504F-5FE1-4C97-B485-F05E8885EACC}">
      <dsp:nvSpPr>
        <dsp:cNvPr id="7" name="Rectangular Callout 6"/>
        <dsp:cNvSpPr/>
      </dsp:nvSpPr>
      <dsp:spPr bwMode="white">
        <a:xfrm>
          <a:off x="4620237" y="811639"/>
          <a:ext cx="1278321" cy="284073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6390000"/>
            <a:satOff val="18431"/>
            <a:lumOff val="6275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811639"/>
        <a:ext cx="1278321" cy="2840736"/>
      </dsp:txXfrm>
    </dsp:sp>
    <dsp:sp modelId="{4C66D42D-7E6D-4563-AFDC-369C30B73F70}">
      <dsp:nvSpPr>
        <dsp:cNvPr id="8" name="Rectangles 7"/>
        <dsp:cNvSpPr/>
      </dsp:nvSpPr>
      <dsp:spPr bwMode="white">
        <a:xfrm>
          <a:off x="4620237" y="206156"/>
          <a:ext cx="1278321" cy="608729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206156"/>
        <a:ext cx="1278321" cy="608729"/>
      </dsp:txXfrm>
    </dsp:sp>
    <dsp:sp modelId="{06F8D57B-EDF4-4CF4-8700-DC2CA3E3028E}">
      <dsp:nvSpPr>
        <dsp:cNvPr id="9" name="Rectangular Callout 8"/>
        <dsp:cNvSpPr/>
      </dsp:nvSpPr>
      <dsp:spPr bwMode="white">
        <a:xfrm>
          <a:off x="3341916" y="811639"/>
          <a:ext cx="1278321" cy="263782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9585000"/>
            <a:satOff val="27647"/>
            <a:lumOff val="9412"/>
            <a:alpha val="100000"/>
          </a:schemeClr>
        </a:fillRef>
        <a:effectRef idx="0">
          <a:scrgbClr r="0" g="0" b="0"/>
        </a:effectRef>
        <a:fontRef idx="minor"/>
      </dsp:style>
      <dsp:txXfrm>
        <a:off x="3341916" y="811639"/>
        <a:ext cx="1278321" cy="2637827"/>
      </dsp:txXfrm>
    </dsp:sp>
    <dsp:sp modelId="{00BB3360-A9BB-4051-A4B1-1216F82F642C}">
      <dsp:nvSpPr>
        <dsp:cNvPr id="11" name="Rectangles 10"/>
        <dsp:cNvSpPr/>
      </dsp:nvSpPr>
      <dsp:spPr bwMode="white">
        <a:xfrm>
          <a:off x="3341916" y="304365"/>
          <a:ext cx="1278321" cy="507274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6" y="304365"/>
        <a:ext cx="1278321" cy="507274"/>
      </dsp:txXfrm>
    </dsp:sp>
    <dsp:sp modelId="{A134CDD1-D85F-44EF-8BEE-9F99A855C1E6}">
      <dsp:nvSpPr>
        <dsp:cNvPr id="12" name="Rectangular Callout 11"/>
        <dsp:cNvSpPr/>
      </dsp:nvSpPr>
      <dsp:spPr bwMode="white">
        <a:xfrm>
          <a:off x="2063595" y="811639"/>
          <a:ext cx="1278321" cy="243491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12780000"/>
            <a:satOff val="36863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811639"/>
        <a:ext cx="1278321" cy="2434917"/>
      </dsp:txXfrm>
    </dsp:sp>
    <dsp:sp modelId="{65257024-FAC0-4522-B139-1CC85B547BE8}">
      <dsp:nvSpPr>
        <dsp:cNvPr id="13" name="Rectangles 12"/>
        <dsp:cNvSpPr/>
      </dsp:nvSpPr>
      <dsp:spPr bwMode="white">
        <a:xfrm>
          <a:off x="2063595" y="405820"/>
          <a:ext cx="1278321" cy="405820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405820"/>
        <a:ext cx="1278321" cy="405820"/>
      </dsp:txXfrm>
    </dsp:sp>
    <dsp:sp modelId="{6BCCFBA6-7A43-4631-AD7F-AFB10E1E6CD7}">
      <dsp:nvSpPr>
        <dsp:cNvPr id="10" name="Rectangles 9"/>
        <dsp:cNvSpPr/>
      </dsp:nvSpPr>
      <dsp:spPr bwMode="white">
        <a:xfrm>
          <a:off x="3504181" y="811639"/>
          <a:ext cx="1116055" cy="2637827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3504181" y="811639"/>
        <a:ext cx="1116055" cy="2637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" ptType="node node"/>
        <dgm:presOf axis="des des" ptType="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Irfan Rajab Bhat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i="0" u="none" strike="noStrike" cap="none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in Computer Engineering</a:t>
            </a:r>
            <a:endParaRPr lang="en-US" sz="2000" b="1" i="0" u="none" strike="noStrike" cap="none" dirty="0" smtClean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Gopal Krishna Shyam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</a:t>
            </a:r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Product Development and Client Support using Java &amp; Spring Boot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Rukmini Surve M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20221COM0187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8COM03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</a:t>
            </a:r>
            <a:endParaRPr lang="en-US" sz="20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altLang="en-US" sz="20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Products and Domains</a:t>
            </a:r>
            <a:endParaRPr lang="en-US" sz="20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Encrypt Infotech LLP</a:t>
            </a:r>
            <a:endParaRPr lang="en-US" altLang="en-US" sz="32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Infotech LLP is a product-based IT company located in Bengaluru, Karnataka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2017 and actively operating in the IT services domain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Specializes in: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product development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and enterprise applications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ERP-based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focuses on secure, scalable, and client-centric software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data security policies are followed to ensure confidentiality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PRODUCTS &amp; DOMAINS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US" sz="34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Products Developed and Maintained</a:t>
            </a:r>
            <a:r>
              <a:rPr lang="en-IN" altLang="en-US" sz="34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  <a:endParaRPr lang="en-US" altLang="en-US" sz="343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AnyCrusher.com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platform with 40 active clients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client-specific solutions and application support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feature updates, bug fixes, and maintenance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ERMC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Enterprise-level management product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20 active clients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managing enterprise operations and workflows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8510"/>
          </a:xfrm>
        </p:spPr>
        <p:txBody>
          <a:bodyPr/>
          <a:p>
            <a:r>
              <a:rPr lang="en-IN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and Technology</a:t>
            </a:r>
            <a:endParaRPr lang="en-IN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4270"/>
            <a:ext cx="10515600" cy="5033010"/>
          </a:xfrm>
        </p:spPr>
        <p:txBody>
          <a:bodyPr>
            <a:normAutofit fontScale="80000"/>
          </a:bodyPr>
          <a:p>
            <a:pPr>
              <a:buFont typeface="Wingdings" panose="05000000000000000000" charset="0"/>
              <a:buChar char="Ø"/>
            </a:pPr>
            <a:r>
              <a:rPr lang="en-US" altLang="en-US"/>
              <a:t>Internship Working Domain</a:t>
            </a:r>
            <a:endParaRPr lang="en-US" altLang="en-US"/>
          </a:p>
          <a:p>
            <a:r>
              <a:rPr lang="en-US" altLang="en-US"/>
              <a:t>Java-based product development</a:t>
            </a:r>
            <a:endParaRPr lang="en-US" altLang="en-US"/>
          </a:p>
          <a:p>
            <a:r>
              <a:rPr lang="en-US" altLang="en-US"/>
              <a:t>Application maintenance and client support</a:t>
            </a:r>
            <a:endParaRPr lang="en-US" altLang="en-US"/>
          </a:p>
          <a:p>
            <a:r>
              <a:rPr lang="en-US" altLang="en-US"/>
              <a:t>Performance optimization and server migration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Technologies Used</a:t>
            </a:r>
            <a:endParaRPr lang="en-US" altLang="en-US"/>
          </a:p>
          <a:p>
            <a:r>
              <a:rPr lang="en-US" altLang="en-US"/>
              <a:t>Backend: Java, Spring Boot</a:t>
            </a:r>
            <a:endParaRPr lang="en-US" altLang="en-US"/>
          </a:p>
          <a:p>
            <a:r>
              <a:rPr lang="en-US" altLang="en-US"/>
              <a:t>Frontend: HTML, CSS</a:t>
            </a:r>
            <a:endParaRPr lang="en-US" altLang="en-US"/>
          </a:p>
          <a:p>
            <a:r>
              <a:rPr lang="en-US" altLang="en-US"/>
              <a:t>Server-side: Servlets</a:t>
            </a:r>
            <a:endParaRPr lang="en-US" altLang="en-US"/>
          </a:p>
          <a:p>
            <a:r>
              <a:rPr lang="en-US" altLang="en-US"/>
              <a:t>Build Tool: Jenkins</a:t>
            </a:r>
            <a:endParaRPr lang="en-US" altLang="en-US"/>
          </a:p>
          <a:p>
            <a:r>
              <a:rPr lang="en-US" altLang="en-US"/>
              <a:t>Cloud Platform: Internal cloud infrastructure</a:t>
            </a:r>
            <a:endParaRPr lang="en-US" altLang="en-US"/>
          </a:p>
          <a:p>
            <a:r>
              <a:rPr lang="en-US" altLang="en-US"/>
              <a:t>Testing: Manual testing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65000"/>
          </a:bodyPr>
          <a:lstStyle/>
          <a:p>
            <a:pPr marL="0" indent="0">
              <a:buNone/>
            </a:pPr>
            <a:r>
              <a:rPr lang="en-US" altLang="en-US" sz="36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r>
              <a:rPr lang="en-IN" altLang="en-US" sz="36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36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team consists of 7 members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works collaboratively on product tasks and client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6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36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Balakrishna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Manager: Naveen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6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assigned based on:</a:t>
            </a:r>
            <a:endParaRPr lang="en-US" altLang="en-US" sz="36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priority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requirements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severity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applications to Spring Boot architecture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complex existing code flow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performance and latency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live client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within a team environment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timely delivery of fixes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393192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exposure to enterprise-level software products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real-time application workflows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Java-based product development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and maintain live client applications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and professional skills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711835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2882265" y="2095500"/>
            <a:ext cx="1402080" cy="2122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Understanding company policies, product overview, and application architecture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157345" y="2305685"/>
            <a:ext cx="11372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Setting up environment and learning technologies and workflow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5463540" y="2305685"/>
            <a:ext cx="12115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Assisting in bug fixes, feature updates, and client support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6685280" y="2305685"/>
            <a:ext cx="10852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Independently handling tasks and resolving client issues</a:t>
            </a:r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7854315" y="2517140"/>
            <a:ext cx="1414145" cy="211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Performance optimization, testing, documentation, and final review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altLang="en-US" dirty="0"/>
              <a:t>GitHub repository is not publicly available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Code is maintained internally due to:</a:t>
            </a:r>
            <a:endParaRPr lang="en-US" altLang="en-US" dirty="0"/>
          </a:p>
          <a:p>
            <a:pPr lvl="1">
              <a:buFont typeface="Wingdings" panose="05000000000000000000" charset="0"/>
              <a:buChar char="§"/>
            </a:pPr>
            <a:r>
              <a:rPr lang="en-US" altLang="en-US" dirty="0"/>
              <a:t>Product confidentiality</a:t>
            </a:r>
            <a:endParaRPr lang="en-US" altLang="en-US" dirty="0"/>
          </a:p>
          <a:p>
            <a:pPr lvl="1">
              <a:buFont typeface="Wingdings" panose="05000000000000000000" charset="0"/>
              <a:buChar char="§"/>
            </a:pPr>
            <a:r>
              <a:rPr lang="en-US" altLang="en-US" dirty="0"/>
              <a:t>Client data security policies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3181</Words>
  <Application>WPS Presentation</Application>
  <PresentationFormat>Widescreen</PresentationFormat>
  <Paragraphs>162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Wingdings</vt:lpstr>
      <vt:lpstr>Office Theme</vt:lpstr>
      <vt:lpstr>PowerPoint 演示文稿</vt:lpstr>
      <vt:lpstr>Content</vt:lpstr>
      <vt:lpstr>About Company or Organization</vt:lpstr>
      <vt:lpstr>Working domain or the technology</vt:lpstr>
      <vt:lpstr>PowerPoint 演示文稿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Abhi abhay</cp:lastModifiedBy>
  <cp:revision>717</cp:revision>
  <dcterms:created xsi:type="dcterms:W3CDTF">2022-10-14T07:18:00Z</dcterms:created>
  <dcterms:modified xsi:type="dcterms:W3CDTF">2026-01-12T08:39:43Z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C5238B375AE94D8C832217690417F812_12</vt:lpwstr>
  </property>
  <property fmtid="{D5CDD505-2E9C-101B-9397-08002B2CF9AE}" pid="3" name="KSOProductBuildVer">
    <vt:lpwstr>1033-12.2.0.23196</vt:lpwstr>
  </property>
</Properties>
</file>